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Élèves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1ère</c:v>
                  </c:pt>
                  <c:pt idx="1">
                    <c:v>6ème</c:v>
                  </c:pt>
                  <c:pt idx="2">
                    <c:v>3ème</c:v>
                  </c:pt>
                  <c:pt idx="3">
                    <c:v>Term.</c:v>
                  </c:pt>
                  <c:pt idx="4">
                    <c:v>4ème</c:v>
                  </c:pt>
                  <c:pt idx="5">
                    <c:v>2nde</c:v>
                  </c:pt>
                  <c:pt idx="6">
                    <c:v>5ème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14</c:v>
                </c:pt>
                <c:pt idx="5">
                  <c:v>13</c:v>
                </c:pt>
                <c:pt idx="6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bubble3D val="0"/>
            <c:spPr>
              <a:solidFill>
                <a:srgbClr val="0F6E56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Actif</c:v>
                </c:pt>
                <c:pt idx="1">
                  <c:v>Diplômé</c:v>
                </c:pt>
                <c:pt idx="2">
                  <c:v>Redoublant</c:v>
                </c:pt>
                <c:pt idx="3">
                  <c:v>Transféré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64</c:v>
                </c:pt>
                <c:pt idx="1">
                  <c:v>22</c:v>
                </c:pt>
                <c:pt idx="2">
                  <c:v>20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Répartition par matière et contrat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Titulaire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Maths</c:v>
                  </c:pt>
                  <c:pt idx="1">
                    <c:v>Français</c:v>
                  </c:pt>
                  <c:pt idx="2">
                    <c:v>SVT</c:v>
                  </c:pt>
                  <c:pt idx="3">
                    <c:v>Histoire</c:v>
                  </c:pt>
                  <c:pt idx="4">
                    <c:v>Info</c:v>
                  </c:pt>
                  <c:pt idx="5">
                    <c:v>Phys.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Contractuel</c:v>
                </c:pt>
              </c:strCache>
            </c:strRef>
          </c:tx>
          <c:spPr>
            <a:solidFill>
              <a:srgbClr val="5DCA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Maths</c:v>
                  </c:pt>
                  <c:pt idx="1">
                    <c:v>Français</c:v>
                  </c:pt>
                  <c:pt idx="2">
                    <c:v>SVT</c:v>
                  </c:pt>
                  <c:pt idx="3">
                    <c:v>Histoire</c:v>
                  </c:pt>
                  <c:pt idx="4">
                    <c:v>Info</c:v>
                  </c:pt>
                  <c:pt idx="5">
                    <c:v>Phys.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Vacataire</c:v>
                </c:pt>
              </c:strCache>
            </c:strRef>
          </c:tx>
          <c:spPr>
            <a:solidFill>
              <a:srgbClr val="9FE1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Maths</c:v>
                  </c:pt>
                  <c:pt idx="1">
                    <c:v>Français</c:v>
                  </c:pt>
                  <c:pt idx="2">
                    <c:v>SVT</c:v>
                  </c:pt>
                  <c:pt idx="3">
                    <c:v>Histoire</c:v>
                  </c:pt>
                  <c:pt idx="4">
                    <c:v>Info</c:v>
                  </c:pt>
                  <c:pt idx="5">
                    <c:v>Phys.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Distribution des notes d'évaluation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Enseignants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Réussite / Échec par matière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Réussi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Maths</c:v>
                  </c:pt>
                  <c:pt idx="1">
                    <c:v>Chimie</c:v>
                  </c:pt>
                  <c:pt idx="2">
                    <c:v>Géom.</c:v>
                  </c:pt>
                  <c:pt idx="3">
                    <c:v>Philo.</c:v>
                  </c:pt>
                  <c:pt idx="4">
                    <c:v>EPS</c:v>
                  </c:pt>
                  <c:pt idx="5">
                    <c:v>Hist.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22</c:v>
                </c:pt>
                <c:pt idx="3">
                  <c:v>16</c:v>
                </c:pt>
                <c:pt idx="4">
                  <c:v>24</c:v>
                </c:pt>
                <c:pt idx="5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Échoué</c:v>
                </c:pt>
              </c:strCache>
            </c:strRef>
          </c:tx>
          <c:spPr>
            <a:solidFill>
              <a:srgbClr val="AFA9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Maths</c:v>
                  </c:pt>
                  <c:pt idx="1">
                    <c:v>Chimie</c:v>
                  </c:pt>
                  <c:pt idx="2">
                    <c:v>Géom.</c:v>
                  </c:pt>
                  <c:pt idx="3">
                    <c:v>Philo.</c:v>
                  </c:pt>
                  <c:pt idx="4">
                    <c:v>EPS</c:v>
                  </c:pt>
                  <c:pt idx="5">
                    <c:v>Hist.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14</c:v>
                </c:pt>
                <c:pt idx="4">
                  <c:v>4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Évolution notes par semestre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534AB7"/>
            </a:solidFill>
            <a:ln w="25400" cap="flat">
              <a:solidFill>
                <a:srgbClr val="534A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34AB7"/>
              </a:solidFill>
              <a:ln w="9525" cap="flat">
                <a:solidFill>
                  <a:srgbClr val="534A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2021-2022</c:v>
                  </c:pt>
                  <c:pt idx="1">
                    <c:v>2022-2023</c:v>
                  </c:pt>
                  <c:pt idx="2">
                    <c:v>2023-2024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11.8</c:v>
                </c:pt>
                <c:pt idx="1">
                  <c:v>12.1</c:v>
                </c:pt>
                <c:pt idx="2">
                  <c:v>12.4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AFA9EC"/>
            </a:solidFill>
            <a:ln w="25400" cap="flat">
              <a:solidFill>
                <a:srgbClr val="AFA9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FA9EC"/>
              </a:solidFill>
              <a:ln w="9525" cap="flat">
                <a:solidFill>
                  <a:srgbClr val="AFA9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2021-2022</c:v>
                  </c:pt>
                  <c:pt idx="1">
                    <c:v>2022-2023</c:v>
                  </c:pt>
                  <c:pt idx="2">
                    <c:v>2023-2024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11.2</c:v>
                </c:pt>
                <c:pt idx="1">
                  <c:v>11.7</c:v>
                </c:pt>
                <c:pt idx="2">
                  <c:v>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Tableau de Bord Scolaire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AEC0"/>
                </a:solidFill>
              </a:rPr>
              <a:t>Analyse des performances académiques · Power BI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85FA5">
              <a:alpha val="80000"/>
            </a:srgbClr>
          </a:solidFill>
          <a:ln w="12700">
            <a:solidFill>
              <a:srgbClr val="185FA5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Élèves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6576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0F6E56">
              <a:alpha val="80000"/>
            </a:srgbClr>
          </a:solidFill>
          <a:ln w="12700">
            <a:solidFill>
              <a:srgbClr val="0F6E56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Enseignants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6576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657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2021 – 2024  ·  Rapport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24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📊  Mission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Construire un rapport Power BI décisionnel pour la direction d'un établissement scolaire.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944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🎯  Objectifs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Analyser les performances académiques, l'absentéisme, la charge des enseignants et l'efficacité des cours.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024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📁  Données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10912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Trois datasets : students.csv (120 élèves), teachers.csv (20 enseignants), courses.csv (500 cours).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10912" y="2944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🔧  Outils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10912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Power BI Desktop — Power Query, DAX, modélisation en étoile, visualisations interactives.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&amp; Modélisation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377440" cy="365760"/>
          </a:xfrm>
          <a:prstGeom prst="roundRect">
            <a:avLst>
              <a:gd name="adj" fmla="val 25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student_id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4533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full_name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class_level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average_grade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absences_count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teacher_id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91440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914400"/>
            <a:ext cx="2377440" cy="365760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courses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129844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course_id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54533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course_name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17922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teacher_id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0391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student_id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28600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grade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53288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pass_fail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91440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914400"/>
            <a:ext cx="2377440" cy="365760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teachers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129844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teacher_id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154533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full_name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17922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subject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0391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weekly_hours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228600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performance_rating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320040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00400"/>
            <a:ext cx="237744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DimDate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358444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Date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383133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Année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40782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Mois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43251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Trimestre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160" y="457200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Semaine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</a:rPr>
              <a:t>*:1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70448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*:1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1:*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Nettoyage &amp; Préparation — Power Query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247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Typage &amp; Format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Conversion des dates (JJ/MM/AAAA), nombres décimaux, textes en casse titre.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9992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Valeurs manquantes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34290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Imputation par médiane pour les notes, 'Inconnu' pour les textes, suppression si &lt; 2%.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1247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Doublons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1554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Suppression des doublons sur student_id et teacher_id.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9992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Colonnes calculées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10912" y="34290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age_eleve, anciennete_enseignant, taux_realisation_cours, annee_inscription.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Mesures DAX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320040" cy="3200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Total Élèves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822192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26464"/>
            <a:ext cx="3703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DISTINCTCOUNT(students[student_id])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00584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Moyenne Générale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1417320"/>
            <a:ext cx="3822192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426464"/>
            <a:ext cx="3703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AVERAGE(students[average_grade])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423160"/>
            <a:ext cx="320040" cy="3200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Taux de Réussite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822192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43784"/>
            <a:ext cx="3703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DIVIDE(COUNTROWS(FILTER(..., pass_fail = "Réussi")), COUNTROWS(...)) × 100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423160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Élèves à Risque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834640"/>
            <a:ext cx="3822192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843784"/>
            <a:ext cx="3703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COUNTROWS(FILTER(..., average_grade &lt; 10 &amp;&amp; absences &gt; 15))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84048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7947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Heures Moy./Enseignant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251960"/>
            <a:ext cx="3822192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61104"/>
            <a:ext cx="3703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AVERAGE(teachers[weekly_hours])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840480"/>
            <a:ext cx="320040" cy="3200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37947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Note Éval. Moyenne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4251960"/>
            <a:ext cx="3822192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4261104"/>
            <a:ext cx="3703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AVERAGE(teachers[performance_rating])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Page 1 — Vue Élèves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5FA5"/>
                </a:solidFill>
              </a:rPr>
              <a:t>120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Élèves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56"/>
                </a:solidFill>
              </a:rPr>
              <a:t>11.88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41448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Moyenne Générale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52%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08576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Taux de Réussite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1C1C"/>
                </a:solidFill>
              </a:rPr>
              <a:t>29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75704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Élèves à Risque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Répartition par niveau &amp; section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4688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Histogramme empilé par class_level et section.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Évolution des inscriptions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Graphique en courbes par année d'inscription.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538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Corrélation absences / moyenne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Nuage de points : absences_count vs average_grade.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538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Répartition par statut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9319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Graphique en anneau : Actif, Diplômé, Redoublant, Transféré.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274320" y="1965960"/>
          <a:ext cx="41148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9" name="Chart 1" descr=""/>
          <p:cNvGraphicFramePr/>
          <p:nvPr/>
        </p:nvGraphicFramePr>
        <p:xfrm>
          <a:off x="4754880" y="3429000"/>
          <a:ext cx="41148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Page 2 — Vue Enseignants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20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Enseignants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17 ans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41448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Ancienneté Moyenne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22h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8576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Heures Hebdo Moy.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3.16/5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75704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Note Éval. Moyenne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192024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577840" y="1920240"/>
          <a:ext cx="32918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274320" y="3886200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11480" y="39319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Top 5 &amp; Flop 5 — Enseignants par performance_rating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33672"/>
          <a:ext cx="8503920" cy="6858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731520"/>
                <a:gridCol w="1645920"/>
                <a:gridCol w="1463040"/>
                <a:gridCol w="7315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Matière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Tariq Benali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Matière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Tariq Benali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6E56"/>
                          </a:solidFill>
                        </a:rPr>
                        <a:t>4.6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Amine Tahiri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Anglais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</a:rPr>
                        <a:t>1.5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Nour Akram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6E56"/>
                          </a:solidFill>
                        </a:rPr>
                        <a:t>4.3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Rim El Idrissi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Français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</a:rPr>
                        <a:t>1.6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Page 3 — Vue Cours &amp; Résultats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Cours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80.4%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41448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Taux Réalisation Moy.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52.3%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8576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Réussite S1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8229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868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</a:rPr>
              <a:t>57.4%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75704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Réussite S2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1920240"/>
          <a:ext cx="5303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760720" y="1920240"/>
          <a:ext cx="3108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13632"/>
          <a:ext cx="8595360" cy="109728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1945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Matière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Moyenne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Taux Réussite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6E56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Arts Plastiques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13.8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6E56"/>
                          </a:solidFill>
                        </a:rPr>
                        <a:t>82%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Français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12.9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6E56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Histoire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 &amp; Recommandations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612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5FA5"/>
                </a:solidFill>
              </a:rPr>
              <a:t>👨‍🎓  Élèves à risque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58191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29 élèves avec moyenne &lt; 10 et absences &gt; 15 jours — suivi personnalisé recommandé.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852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📉  Taux de réussite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27355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52% global — renforcer les matières scientifiques avec des séances de soutien.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1612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</a:rPr>
              <a:t>👨‍🏫  Enseignants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58191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Accompagnement pédagogique pour les enseignants avec note &lt; 2/5.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852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📚  Matières difficiles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327355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Revoir les méthodes pédagogiques dans les matières à fort taux d'échec.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Projet Power BI — Tableau de Bord Scolaire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Power BI — Tableau de Bord Scolaire</dc:title>
  <dc:subject>PptxGenJS Presentation</dc:subject>
  <dc:creator>PptxGenJS</dc:creator>
  <cp:lastModifiedBy>PptxGenJS</cp:lastModifiedBy>
  <cp:revision>1</cp:revision>
  <dcterms:created xsi:type="dcterms:W3CDTF">2026-06-25T20:37:39Z</dcterms:created>
  <dcterms:modified xsi:type="dcterms:W3CDTF">2026-06-25T20:37:39Z</dcterms:modified>
</cp:coreProperties>
</file>